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17"/>
  </p:notesMasterIdLst>
  <p:sldIdLst>
    <p:sldId id="256" r:id="rId2"/>
    <p:sldId id="258" r:id="rId3"/>
    <p:sldId id="261" r:id="rId4"/>
    <p:sldId id="262" r:id="rId5"/>
    <p:sldId id="263" r:id="rId6"/>
    <p:sldId id="264" r:id="rId7"/>
    <p:sldId id="271" r:id="rId8"/>
    <p:sldId id="270" r:id="rId9"/>
    <p:sldId id="266" r:id="rId10"/>
    <p:sldId id="272" r:id="rId11"/>
    <p:sldId id="274" r:id="rId12"/>
    <p:sldId id="273" r:id="rId13"/>
    <p:sldId id="267" r:id="rId14"/>
    <p:sldId id="268" r:id="rId15"/>
    <p:sldId id="269" r:id="rId16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8F4"/>
    <a:srgbClr val="A599EB"/>
    <a:srgbClr val="A094E9"/>
    <a:srgbClr val="BFBFBF"/>
    <a:srgbClr val="DDDDDD"/>
    <a:srgbClr val="ED6641"/>
    <a:srgbClr val="F08062"/>
    <a:srgbClr val="F2947A"/>
    <a:srgbClr val="8E7FE5"/>
    <a:srgbClr val="685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1" autoAdjust="0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3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317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3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439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802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1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6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7237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6491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02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3922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8617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75801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07123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6148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81537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2078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78250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8515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931915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72587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8912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35759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30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8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Relationship Id="rId4" Type="http://schemas.openxmlformats.org/officeDocument/2006/relationships/hyperlink" Target="http://motors.mega.mu/news/2013/12/17/auto-market8decrease-sales-newcars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4A256D-FB51-186C-003E-CBA1B299BDCD}"/>
              </a:ext>
            </a:extLst>
          </p:cNvPr>
          <p:cNvSpPr/>
          <p:nvPr/>
        </p:nvSpPr>
        <p:spPr>
          <a:xfrm>
            <a:off x="208342" y="2034598"/>
            <a:ext cx="14444357" cy="1178131"/>
          </a:xfrm>
          <a:prstGeom prst="rect">
            <a:avLst/>
          </a:prstGeom>
          <a:solidFill>
            <a:schemeClr val="accent3">
              <a:lumMod val="40000"/>
              <a:lumOff val="60000"/>
              <a:alpha val="7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D44CA0-34C6-4C58-73A2-65D95305AC56}"/>
              </a:ext>
            </a:extLst>
          </p:cNvPr>
          <p:cNvSpPr/>
          <p:nvPr/>
        </p:nvSpPr>
        <p:spPr>
          <a:xfrm>
            <a:off x="208344" y="0"/>
            <a:ext cx="14444357" cy="2048719"/>
          </a:xfrm>
          <a:prstGeom prst="rect">
            <a:avLst/>
          </a:prstGeom>
          <a:solidFill>
            <a:schemeClr val="bg2">
              <a:lumMod val="90000"/>
              <a:alpha val="74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648294" y="1929344"/>
            <a:ext cx="13564452" cy="117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8384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A Deep Dive into Predicting used Car Prices with Machine Learning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2862419" y="4275966"/>
            <a:ext cx="3230269" cy="1349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PROJECT GUIDE:</a:t>
            </a:r>
          </a:p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0070C0"/>
                </a:solidFill>
                <a:latin typeface="Arimo" pitchFamily="34" charset="0"/>
                <a:ea typeface="Arimo" pitchFamily="34" charset="-122"/>
              </a:rPr>
              <a:t>Mr. P. Raju</a:t>
            </a:r>
            <a:endParaRPr lang="en-US" sz="2000" b="1" dirty="0">
              <a:solidFill>
                <a:srgbClr val="0070C0"/>
              </a:solidFill>
            </a:endParaRPr>
          </a:p>
        </p:txBody>
      </p:sp>
      <p:sp>
        <p:nvSpPr>
          <p:cNvPr id="7" name="Shape 3"/>
          <p:cNvSpPr/>
          <p:nvPr/>
        </p:nvSpPr>
        <p:spPr>
          <a:xfrm>
            <a:off x="864037" y="7023378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811CEF7-A50D-F34D-F365-37CA8100839A}"/>
              </a:ext>
            </a:extLst>
          </p:cNvPr>
          <p:cNvSpPr/>
          <p:nvPr/>
        </p:nvSpPr>
        <p:spPr>
          <a:xfrm>
            <a:off x="7623929" y="3107475"/>
            <a:ext cx="5561767" cy="39081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243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</a:t>
            </a:r>
            <a:endParaRPr lang="en-US" sz="243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0DEE18-D6DA-8762-883F-F4429F9B5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92" y="56309"/>
            <a:ext cx="1620248" cy="1929225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3B309F9A-A9EF-E05B-1805-7E97B87D1F76}"/>
              </a:ext>
            </a:extLst>
          </p:cNvPr>
          <p:cNvSpPr/>
          <p:nvPr/>
        </p:nvSpPr>
        <p:spPr>
          <a:xfrm>
            <a:off x="9296349" y="4275966"/>
            <a:ext cx="5204842" cy="340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PRESENTED BY:</a:t>
            </a:r>
          </a:p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0070C0"/>
                </a:solidFill>
                <a:latin typeface="Arimo" pitchFamily="34" charset="0"/>
                <a:ea typeface="Arimo" pitchFamily="34" charset="-122"/>
              </a:rPr>
              <a:t>B. </a:t>
            </a:r>
            <a:r>
              <a:rPr lang="en-US" sz="2400" b="1" dirty="0" err="1">
                <a:solidFill>
                  <a:srgbClr val="0070C0"/>
                </a:solidFill>
                <a:latin typeface="Arimo" pitchFamily="34" charset="0"/>
                <a:ea typeface="Arimo" pitchFamily="34" charset="-122"/>
              </a:rPr>
              <a:t>Sireesha</a:t>
            </a:r>
            <a:r>
              <a:rPr lang="en-US" sz="2400" b="1" dirty="0">
                <a:solidFill>
                  <a:srgbClr val="0070C0"/>
                </a:solidFill>
                <a:latin typeface="Arimo" pitchFamily="34" charset="0"/>
                <a:ea typeface="Arimo" pitchFamily="34" charset="-122"/>
              </a:rPr>
              <a:t>       - </a:t>
            </a:r>
            <a:r>
              <a:rPr lang="en-US" sz="2000" b="1" dirty="0">
                <a:solidFill>
                  <a:srgbClr val="0070C0"/>
                </a:solidFill>
              </a:rPr>
              <a:t>22B01A4603</a:t>
            </a:r>
            <a:endParaRPr lang="en-US" sz="2000" b="1" dirty="0">
              <a:solidFill>
                <a:srgbClr val="0070C0"/>
              </a:solidFill>
              <a:latin typeface="Arimo" pitchFamily="34" charset="0"/>
              <a:ea typeface="Arimo" pitchFamily="34" charset="-122"/>
            </a:endParaRPr>
          </a:p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0070C0"/>
                </a:solidFill>
                <a:latin typeface="Century Gothic" panose="020B0502020202020204" pitchFamily="34" charset="0"/>
                <a:ea typeface="Arimo" pitchFamily="34" charset="-122"/>
              </a:rPr>
              <a:t>B. Prasanna  </a:t>
            </a:r>
            <a:r>
              <a:rPr lang="en-US" sz="2400" b="1" dirty="0">
                <a:solidFill>
                  <a:srgbClr val="0070C0"/>
                </a:solidFill>
                <a:latin typeface="Arimo" pitchFamily="34" charset="0"/>
                <a:ea typeface="Arimo" pitchFamily="34" charset="-122"/>
              </a:rPr>
              <a:t>- </a:t>
            </a:r>
            <a:r>
              <a:rPr lang="en-US" sz="2000" b="1" dirty="0">
                <a:solidFill>
                  <a:srgbClr val="0070C0"/>
                </a:solidFill>
              </a:rPr>
              <a:t>22B01A4605</a:t>
            </a:r>
            <a:endParaRPr lang="en-US" sz="2000" b="1" dirty="0">
              <a:solidFill>
                <a:srgbClr val="0070C0"/>
              </a:solidFill>
              <a:latin typeface="Arimo" pitchFamily="34" charset="0"/>
              <a:ea typeface="Arimo" pitchFamily="34" charset="-122"/>
            </a:endParaRPr>
          </a:p>
          <a:p>
            <a:pPr>
              <a:lnSpc>
                <a:spcPts val="3110"/>
              </a:lnSpc>
            </a:pPr>
            <a:r>
              <a:rPr lang="en-US" sz="2000" b="1" dirty="0">
                <a:solidFill>
                  <a:srgbClr val="0070C0"/>
                </a:solidFill>
                <a:ea typeface="Arimo"/>
              </a:rPr>
              <a:t>B. </a:t>
            </a:r>
            <a:r>
              <a:rPr lang="en-US" sz="2000" b="1" dirty="0" err="1">
                <a:solidFill>
                  <a:srgbClr val="0070C0"/>
                </a:solidFill>
                <a:ea typeface="Arimo"/>
              </a:rPr>
              <a:t>Lohitha</a:t>
            </a:r>
            <a:r>
              <a:rPr lang="en-US" sz="2000" b="1" dirty="0">
                <a:solidFill>
                  <a:srgbClr val="0070C0"/>
                </a:solidFill>
                <a:ea typeface="Arimo"/>
              </a:rPr>
              <a:t>          </a:t>
            </a:r>
            <a:r>
              <a:rPr lang="en-US" sz="2000" b="1" dirty="0">
                <a:solidFill>
                  <a:srgbClr val="0070C0"/>
                </a:solidFill>
              </a:rPr>
              <a:t>- 22B01A4607</a:t>
            </a:r>
          </a:p>
          <a:p>
            <a:pPr>
              <a:lnSpc>
                <a:spcPts val="3110"/>
              </a:lnSpc>
            </a:pPr>
            <a:r>
              <a:rPr lang="en-US" sz="2000" b="1" dirty="0">
                <a:solidFill>
                  <a:srgbClr val="0070C0"/>
                </a:solidFill>
              </a:rPr>
              <a:t>G. </a:t>
            </a:r>
            <a:r>
              <a:rPr lang="en-US" sz="2000" b="1" dirty="0" err="1">
                <a:solidFill>
                  <a:srgbClr val="0070C0"/>
                </a:solidFill>
              </a:rPr>
              <a:t>HemaLatha</a:t>
            </a:r>
            <a:r>
              <a:rPr lang="en-US" sz="2000" b="1" dirty="0">
                <a:solidFill>
                  <a:srgbClr val="0070C0"/>
                </a:solidFill>
              </a:rPr>
              <a:t> - 22B01A4616</a:t>
            </a:r>
          </a:p>
          <a:p>
            <a:pPr>
              <a:lnSpc>
                <a:spcPts val="3110"/>
              </a:lnSpc>
            </a:pPr>
            <a:r>
              <a:rPr lang="en-US" sz="2000" b="1" dirty="0">
                <a:solidFill>
                  <a:srgbClr val="0070C0"/>
                </a:solidFill>
              </a:rPr>
              <a:t>V. Samatha      - 22B01A4651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7F2CAD0-7C7A-1E55-2F18-68A0192EA060}"/>
              </a:ext>
            </a:extLst>
          </p:cNvPr>
          <p:cNvSpPr/>
          <p:nvPr/>
        </p:nvSpPr>
        <p:spPr>
          <a:xfrm>
            <a:off x="3289853" y="498749"/>
            <a:ext cx="9750286" cy="1349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            SHRI VISHNU ENGINEERING COLLEGE FOR WOMEN</a:t>
            </a:r>
          </a:p>
          <a:p>
            <a:pPr>
              <a:lnSpc>
                <a:spcPts val="3110"/>
              </a:lnSpc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                             AUTONOMOUS :: BHIMAVARAM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E06B03-71A9-7CBF-1C55-2F9B04AB53A2}"/>
              </a:ext>
            </a:extLst>
          </p:cNvPr>
          <p:cNvSpPr/>
          <p:nvPr/>
        </p:nvSpPr>
        <p:spPr>
          <a:xfrm>
            <a:off x="1465297" y="3524887"/>
            <a:ext cx="12384911" cy="1955378"/>
          </a:xfrm>
          <a:prstGeom prst="roundRect">
            <a:avLst/>
          </a:prstGeom>
          <a:solidFill>
            <a:schemeClr val="accent2">
              <a:lumMod val="60000"/>
              <a:lumOff val="40000"/>
              <a:alpha val="94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3AE05B-D921-A490-4E4E-F5101E5C3E13}"/>
              </a:ext>
            </a:extLst>
          </p:cNvPr>
          <p:cNvSpPr/>
          <p:nvPr/>
        </p:nvSpPr>
        <p:spPr>
          <a:xfrm>
            <a:off x="1465296" y="5570620"/>
            <a:ext cx="12384911" cy="2237410"/>
          </a:xfrm>
          <a:prstGeom prst="roundRect">
            <a:avLst/>
          </a:prstGeom>
          <a:solidFill>
            <a:schemeClr val="accent2">
              <a:lumMod val="40000"/>
              <a:lumOff val="60000"/>
              <a:alpha val="94000"/>
            </a:schemeClr>
          </a:solidFill>
          <a:ln>
            <a:solidFill>
              <a:srgbClr val="EE6C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1C95D1-1DB6-6421-B8AD-713A0604316B}"/>
              </a:ext>
            </a:extLst>
          </p:cNvPr>
          <p:cNvSpPr/>
          <p:nvPr/>
        </p:nvSpPr>
        <p:spPr>
          <a:xfrm>
            <a:off x="1465298" y="1472227"/>
            <a:ext cx="12384911" cy="1962305"/>
          </a:xfrm>
          <a:prstGeom prst="roundRect">
            <a:avLst/>
          </a:prstGeom>
          <a:solidFill>
            <a:schemeClr val="accent2">
              <a:lumMod val="75000"/>
              <a:alpha val="94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80693" y="377785"/>
            <a:ext cx="5653921" cy="70675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565"/>
              </a:lnSpc>
              <a:buNone/>
            </a:pPr>
            <a:r>
              <a:rPr lang="en-US" sz="4452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Introduction</a:t>
            </a:r>
            <a:endParaRPr lang="en-US" sz="4452" dirty="0"/>
          </a:p>
        </p:txBody>
      </p:sp>
      <p:sp>
        <p:nvSpPr>
          <p:cNvPr id="6" name="Shape 2"/>
          <p:cNvSpPr/>
          <p:nvPr/>
        </p:nvSpPr>
        <p:spPr>
          <a:xfrm>
            <a:off x="1725130" y="1678846"/>
            <a:ext cx="508754" cy="508754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r>
              <a:rPr lang="en-IN" sz="2670" b="1" dirty="0"/>
              <a:t>1</a:t>
            </a:r>
          </a:p>
        </p:txBody>
      </p:sp>
      <p:sp>
        <p:nvSpPr>
          <p:cNvPr id="7" name="Text 3"/>
          <p:cNvSpPr/>
          <p:nvPr/>
        </p:nvSpPr>
        <p:spPr>
          <a:xfrm>
            <a:off x="7410602" y="1917872"/>
            <a:ext cx="132278" cy="3392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71"/>
              </a:lnSpc>
              <a:buNone/>
            </a:pPr>
            <a:endParaRPr lang="en-US" sz="2671" dirty="0"/>
          </a:p>
        </p:txBody>
      </p:sp>
      <p:sp>
        <p:nvSpPr>
          <p:cNvPr id="8" name="Text 4"/>
          <p:cNvSpPr/>
          <p:nvPr/>
        </p:nvSpPr>
        <p:spPr>
          <a:xfrm>
            <a:off x="2409731" y="1756594"/>
            <a:ext cx="3963472" cy="3532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82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Scope of Car Price Predictions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2960158" y="2393688"/>
            <a:ext cx="10593374" cy="1085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849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Predicting car prices accurately impacts both the automotive industry and consumers, enabling better pricing strategies and informed purchasing decisions.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1718236" y="3633146"/>
            <a:ext cx="508754" cy="508754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874922" y="3677459"/>
            <a:ext cx="195382" cy="3392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71"/>
              </a:lnSpc>
              <a:buNone/>
            </a:pPr>
            <a:r>
              <a:rPr lang="en-US" sz="2671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671" dirty="0"/>
          </a:p>
        </p:txBody>
      </p:sp>
      <p:sp>
        <p:nvSpPr>
          <p:cNvPr id="12" name="Text 8"/>
          <p:cNvSpPr/>
          <p:nvPr/>
        </p:nvSpPr>
        <p:spPr>
          <a:xfrm>
            <a:off x="2409731" y="3681647"/>
            <a:ext cx="4543782" cy="3532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82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Collection and Preprocessing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2960158" y="4233519"/>
            <a:ext cx="10136174" cy="1085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849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Initial steps involve gathering comprehensive data from various sources and preprocessing it to ensure quality and consistency for machine learning models.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1725130" y="5740176"/>
            <a:ext cx="508754" cy="508754"/>
          </a:xfrm>
          <a:prstGeom prst="roundRect">
            <a:avLst>
              <a:gd name="adj" fmla="val 18670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1874922" y="5772342"/>
            <a:ext cx="193000" cy="33920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671"/>
              </a:lnSpc>
              <a:buNone/>
            </a:pPr>
            <a:r>
              <a:rPr lang="en-US" sz="2671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671" dirty="0"/>
          </a:p>
        </p:txBody>
      </p:sp>
      <p:sp>
        <p:nvSpPr>
          <p:cNvPr id="16" name="Text 12"/>
          <p:cNvSpPr/>
          <p:nvPr/>
        </p:nvSpPr>
        <p:spPr>
          <a:xfrm>
            <a:off x="2409263" y="5786238"/>
            <a:ext cx="5547955" cy="3532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82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Overview of Machine Learning Algorithms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2970791" y="6430817"/>
            <a:ext cx="10281951" cy="1085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849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Introduction to the machine learning algorithms used in this study, including Linear Regression and Random Forest, and their relevance to car price prediction.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rrow: Right 5">
            <a:extLst>
              <a:ext uri="{FF2B5EF4-FFF2-40B4-BE49-F238E27FC236}">
                <a16:creationId xmlns:a16="http://schemas.microsoft.com/office/drawing/2014/main" id="{7492D1E2-831C-1B8B-DE79-2768050AE03D}"/>
              </a:ext>
            </a:extLst>
          </p:cNvPr>
          <p:cNvSpPr/>
          <p:nvPr/>
        </p:nvSpPr>
        <p:spPr>
          <a:xfrm>
            <a:off x="671530" y="451413"/>
            <a:ext cx="5694545" cy="1400537"/>
          </a:xfrm>
          <a:prstGeom prst="rightArrow">
            <a:avLst/>
          </a:prstGeom>
          <a:solidFill>
            <a:srgbClr val="ED6641"/>
          </a:solidFill>
          <a:ln>
            <a:solidFill>
              <a:srgbClr val="ED664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71531" y="708005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Literature Survey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64037" y="2696765"/>
            <a:ext cx="4361974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491582" y="2696765"/>
            <a:ext cx="5561767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623929" y="4224218"/>
            <a:ext cx="6150054" cy="1580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1E58-B455-6A5F-A008-DA6FA0C59EA6}"/>
              </a:ext>
            </a:extLst>
          </p:cNvPr>
          <p:cNvSpPr txBox="1"/>
          <p:nvPr/>
        </p:nvSpPr>
        <p:spPr>
          <a:xfrm>
            <a:off x="1715139" y="2751503"/>
            <a:ext cx="123818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Sameerchand</a:t>
            </a:r>
            <a:r>
              <a:rPr lang="en-US" sz="2400" b="1" dirty="0"/>
              <a:t> </a:t>
            </a:r>
            <a:r>
              <a:rPr lang="en-US" sz="2400" b="1" dirty="0" err="1"/>
              <a:t>Pudaruth</a:t>
            </a:r>
            <a:r>
              <a:rPr lang="en-US" sz="2400" b="1" dirty="0"/>
              <a:t>, “Predicting the Price of Used Cars using Machine Learning Techniques”;(IJICT 2014)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Enis</a:t>
            </a:r>
            <a:r>
              <a:rPr lang="en-US" sz="2400" b="1" dirty="0"/>
              <a:t> </a:t>
            </a:r>
            <a:r>
              <a:rPr lang="en-US" sz="2400" b="1" dirty="0" err="1"/>
              <a:t>gegic</a:t>
            </a:r>
            <a:r>
              <a:rPr lang="en-US" sz="2400" b="1" dirty="0"/>
              <a:t>, </a:t>
            </a:r>
            <a:r>
              <a:rPr lang="en-US" sz="2400" b="1" dirty="0" err="1"/>
              <a:t>Becir</a:t>
            </a:r>
            <a:r>
              <a:rPr lang="en-US" sz="2400" b="1" dirty="0"/>
              <a:t> </a:t>
            </a:r>
            <a:r>
              <a:rPr lang="en-US" sz="2400" b="1" dirty="0" err="1"/>
              <a:t>Isakovic</a:t>
            </a:r>
            <a:r>
              <a:rPr lang="en-US" sz="2400" b="1" dirty="0"/>
              <a:t>, Dino </a:t>
            </a:r>
            <a:r>
              <a:rPr lang="en-US" sz="2400" b="1" dirty="0" err="1"/>
              <a:t>Keco</a:t>
            </a:r>
            <a:r>
              <a:rPr lang="en-US" sz="2400" b="1" dirty="0"/>
              <a:t>, </a:t>
            </a:r>
            <a:r>
              <a:rPr lang="en-US" sz="2400" b="1" dirty="0" err="1"/>
              <a:t>Zerina</a:t>
            </a:r>
            <a:r>
              <a:rPr lang="en-US" sz="2400" b="1" dirty="0"/>
              <a:t> </a:t>
            </a:r>
            <a:r>
              <a:rPr lang="en-US" sz="2400" b="1" dirty="0" err="1"/>
              <a:t>Masetic</a:t>
            </a:r>
            <a:r>
              <a:rPr lang="en-US" sz="2400" b="1" dirty="0"/>
              <a:t>, Jasmin </a:t>
            </a:r>
            <a:r>
              <a:rPr lang="en-US" sz="2400" b="1" dirty="0" err="1"/>
              <a:t>Kevric</a:t>
            </a:r>
            <a:r>
              <a:rPr lang="en-US" sz="2400" b="1" dirty="0"/>
              <a:t>, ”Car Price Prediction Using Machine Learning”; (TEM Journal 2019)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Ning sun, </a:t>
            </a:r>
            <a:r>
              <a:rPr lang="en-US" sz="2400" b="1" dirty="0" err="1"/>
              <a:t>Hongxi</a:t>
            </a:r>
            <a:r>
              <a:rPr lang="en-US" sz="2400" b="1" dirty="0"/>
              <a:t> Bai, </a:t>
            </a:r>
            <a:r>
              <a:rPr lang="en-US" sz="2400" b="1" dirty="0" err="1"/>
              <a:t>Yuxia</a:t>
            </a:r>
            <a:r>
              <a:rPr lang="en-US" sz="2400" b="1" dirty="0"/>
              <a:t> </a:t>
            </a:r>
            <a:r>
              <a:rPr lang="en-US" sz="2400" b="1" dirty="0" err="1"/>
              <a:t>Geng</a:t>
            </a:r>
            <a:r>
              <a:rPr lang="en-US" sz="2400" b="1" dirty="0"/>
              <a:t>, </a:t>
            </a:r>
            <a:r>
              <a:rPr lang="en-US" sz="2400" b="1" dirty="0" err="1"/>
              <a:t>Huizhu</a:t>
            </a:r>
            <a:r>
              <a:rPr lang="en-US" sz="2400" b="1" dirty="0"/>
              <a:t> Shi, “Price Evaluation Model In Second Hand Car System Based On BP Neural Network Theory”; (</a:t>
            </a:r>
            <a:r>
              <a:rPr lang="en-US" sz="2400" b="1" dirty="0" err="1"/>
              <a:t>Hohai</a:t>
            </a:r>
            <a:r>
              <a:rPr lang="en-US" sz="2400" b="1" dirty="0"/>
              <a:t> University Changzhou, China)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err="1"/>
              <a:t>Nitis</a:t>
            </a:r>
            <a:r>
              <a:rPr lang="en-US" sz="2400" b="1" dirty="0"/>
              <a:t> </a:t>
            </a:r>
            <a:r>
              <a:rPr lang="en-US" sz="2400" b="1" dirty="0" err="1"/>
              <a:t>Monburinon</a:t>
            </a:r>
            <a:r>
              <a:rPr lang="en-US" sz="2400" b="1" dirty="0"/>
              <a:t>, </a:t>
            </a:r>
            <a:r>
              <a:rPr lang="en-US" sz="2400" b="1" dirty="0" err="1"/>
              <a:t>Suwat</a:t>
            </a:r>
            <a:r>
              <a:rPr lang="en-US" sz="2400" b="1" dirty="0"/>
              <a:t> </a:t>
            </a:r>
            <a:r>
              <a:rPr lang="en-US" sz="2400" b="1" dirty="0" err="1"/>
              <a:t>Rungpheung</a:t>
            </a:r>
            <a:r>
              <a:rPr lang="en-US" sz="2400" b="1" dirty="0"/>
              <a:t>, Sabir </a:t>
            </a:r>
            <a:r>
              <a:rPr lang="en-US" sz="2400" b="1" dirty="0" err="1"/>
              <a:t>Buya</a:t>
            </a:r>
            <a:r>
              <a:rPr lang="en-US" sz="2400" b="1" dirty="0"/>
              <a:t>, </a:t>
            </a:r>
            <a:r>
              <a:rPr lang="en-US" sz="2400" b="1" dirty="0" err="1"/>
              <a:t>Pitchayakit</a:t>
            </a:r>
            <a:r>
              <a:rPr lang="en-US" sz="2400" b="1" dirty="0"/>
              <a:t> </a:t>
            </a:r>
            <a:r>
              <a:rPr lang="en-US" sz="2400" b="1" dirty="0" err="1"/>
              <a:t>Boonpou</a:t>
            </a:r>
            <a:r>
              <a:rPr lang="en-US" sz="2400" b="1" dirty="0"/>
              <a:t>, “Prediction of Prices for Used Car by using Regression Models” (ICBIR 2018).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545639-E810-7411-75D7-D5114452F1A6}"/>
              </a:ext>
            </a:extLst>
          </p:cNvPr>
          <p:cNvSpPr/>
          <p:nvPr/>
        </p:nvSpPr>
        <p:spPr>
          <a:xfrm>
            <a:off x="219919" y="0"/>
            <a:ext cx="8111054" cy="8229598"/>
          </a:xfrm>
          <a:prstGeom prst="rect">
            <a:avLst/>
          </a:prstGeom>
          <a:solidFill>
            <a:srgbClr val="977351">
              <a:alpha val="90000"/>
            </a:srgbClr>
          </a:solidFill>
          <a:ln>
            <a:solidFill>
              <a:srgbClr val="97735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738307" y="917972"/>
            <a:ext cx="5273635" cy="65913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191"/>
              </a:lnSpc>
              <a:buNone/>
            </a:pPr>
            <a:r>
              <a:rPr lang="en-US" sz="4153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Methodology</a:t>
            </a:r>
            <a:endParaRPr lang="en-US" sz="4153" dirty="0"/>
          </a:p>
        </p:txBody>
      </p:sp>
      <p:sp>
        <p:nvSpPr>
          <p:cNvPr id="6" name="Shape 2"/>
          <p:cNvSpPr/>
          <p:nvPr/>
        </p:nvSpPr>
        <p:spPr>
          <a:xfrm>
            <a:off x="817364" y="2130743"/>
            <a:ext cx="474583" cy="47458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92862" y="2209800"/>
            <a:ext cx="123468" cy="316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92"/>
              </a:lnSpc>
              <a:buNone/>
            </a:pPr>
            <a:r>
              <a:rPr lang="en-US" sz="2492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492" dirty="0"/>
          </a:p>
        </p:txBody>
      </p:sp>
      <p:sp>
        <p:nvSpPr>
          <p:cNvPr id="8" name="Text 4"/>
          <p:cNvSpPr/>
          <p:nvPr/>
        </p:nvSpPr>
        <p:spPr>
          <a:xfrm>
            <a:off x="1467445" y="2178694"/>
            <a:ext cx="2636758" cy="3295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5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616537" y="2631920"/>
            <a:ext cx="6714435" cy="1061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658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Handling missing values, encoding categorical variables, and feature scaling to prepare the data for machine learning models</a:t>
            </a:r>
            <a:endParaRPr lang="en-US" sz="2400" b="1" dirty="0"/>
          </a:p>
        </p:txBody>
      </p:sp>
      <p:sp>
        <p:nvSpPr>
          <p:cNvPr id="10" name="Shape 6"/>
          <p:cNvSpPr/>
          <p:nvPr/>
        </p:nvSpPr>
        <p:spPr>
          <a:xfrm>
            <a:off x="817364" y="3894534"/>
            <a:ext cx="474583" cy="47458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3454" y="3973592"/>
            <a:ext cx="182285" cy="316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92"/>
              </a:lnSpc>
              <a:buNone/>
            </a:pPr>
            <a:r>
              <a:rPr lang="en-US" sz="2492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492" dirty="0"/>
          </a:p>
        </p:txBody>
      </p:sp>
      <p:sp>
        <p:nvSpPr>
          <p:cNvPr id="12" name="Text 8"/>
          <p:cNvSpPr/>
          <p:nvPr/>
        </p:nvSpPr>
        <p:spPr>
          <a:xfrm>
            <a:off x="1545916" y="3943425"/>
            <a:ext cx="2636758" cy="3295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5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Training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1712790" y="4380661"/>
            <a:ext cx="6190893" cy="10126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658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Implementing Linear Regression and Random Forest algorithms to predict car prices based on the preprocessed data.</a:t>
            </a:r>
            <a:endParaRPr lang="en-US" sz="2400" b="1" dirty="0"/>
          </a:p>
        </p:txBody>
      </p:sp>
      <p:sp>
        <p:nvSpPr>
          <p:cNvPr id="14" name="Shape 10"/>
          <p:cNvSpPr/>
          <p:nvPr/>
        </p:nvSpPr>
        <p:spPr>
          <a:xfrm>
            <a:off x="817364" y="5658326"/>
            <a:ext cx="474583" cy="474583"/>
          </a:xfrm>
          <a:prstGeom prst="roundRect">
            <a:avLst>
              <a:gd name="adj" fmla="val 1866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4644" y="5737384"/>
            <a:ext cx="180023" cy="31646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492"/>
              </a:lnSpc>
              <a:buNone/>
            </a:pPr>
            <a:r>
              <a:rPr lang="en-US" sz="2492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492" dirty="0"/>
          </a:p>
        </p:txBody>
      </p:sp>
      <p:sp>
        <p:nvSpPr>
          <p:cNvPr id="16" name="Text 12"/>
          <p:cNvSpPr/>
          <p:nvPr/>
        </p:nvSpPr>
        <p:spPr>
          <a:xfrm>
            <a:off x="1616537" y="5659441"/>
            <a:ext cx="2636758" cy="32956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595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17" name="Text 13"/>
          <p:cNvSpPr/>
          <p:nvPr/>
        </p:nvSpPr>
        <p:spPr>
          <a:xfrm>
            <a:off x="1621249" y="6239306"/>
            <a:ext cx="6190893" cy="13405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658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Assessing the performance of the models using metrics like Mean Absolute Error (MAE), Mean Squared Error (MSE), and R-squared.</a:t>
            </a:r>
            <a:endParaRPr lang="en-US" sz="2400" b="1" dirty="0"/>
          </a:p>
        </p:txBody>
      </p:sp>
      <p:pic>
        <p:nvPicPr>
          <p:cNvPr id="2050" name="Picture 2" descr="Best Audi Cars in India 2023 – Price ...">
            <a:extLst>
              <a:ext uri="{FF2B5EF4-FFF2-40B4-BE49-F238E27FC236}">
                <a16:creationId xmlns:a16="http://schemas.microsoft.com/office/drawing/2014/main" id="{169190BA-88C8-937B-4784-CAB3B466B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973" y="-1"/>
            <a:ext cx="6299428" cy="8229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559501D-290B-1477-A962-58B983C2E836}"/>
              </a:ext>
            </a:extLst>
          </p:cNvPr>
          <p:cNvSpPr/>
          <p:nvPr/>
        </p:nvSpPr>
        <p:spPr>
          <a:xfrm flipV="1">
            <a:off x="7531556" y="1898247"/>
            <a:ext cx="6678592" cy="484979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9D6DD5-8806-0776-BB91-4184692EA5C8}"/>
              </a:ext>
            </a:extLst>
          </p:cNvPr>
          <p:cNvSpPr/>
          <p:nvPr/>
        </p:nvSpPr>
        <p:spPr>
          <a:xfrm>
            <a:off x="599342" y="387059"/>
            <a:ext cx="12905772" cy="120376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313063-AC97-FF96-B7BF-C20EE88CB9A1}"/>
              </a:ext>
            </a:extLst>
          </p:cNvPr>
          <p:cNvSpPr/>
          <p:nvPr/>
        </p:nvSpPr>
        <p:spPr>
          <a:xfrm flipV="1">
            <a:off x="474562" y="1898248"/>
            <a:ext cx="6678592" cy="4849793"/>
          </a:xfrm>
          <a:prstGeom prst="roundRect">
            <a:avLst/>
          </a:prstGeom>
          <a:solidFill>
            <a:schemeClr val="bg1">
              <a:lumMod val="85000"/>
              <a:alpha val="89000"/>
            </a:schemeClr>
          </a:solidFill>
          <a:ln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599342" y="507337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Algorithms</a:t>
            </a:r>
            <a:endParaRPr lang="en-US" sz="4860" dirty="0"/>
          </a:p>
        </p:txBody>
      </p:sp>
      <p:sp>
        <p:nvSpPr>
          <p:cNvPr id="5" name="Text 2"/>
          <p:cNvSpPr/>
          <p:nvPr/>
        </p:nvSpPr>
        <p:spPr>
          <a:xfrm>
            <a:off x="852964" y="2365776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Linear Regression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852964" y="3422271"/>
            <a:ext cx="6150054" cy="2068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Predicts a continuous target variable based on the linear relationship between input features and the target, with assumptions like linearity, independence of errors, homoscedasticity, and normality of residuals.</a:t>
            </a:r>
            <a:endParaRPr lang="en-US" sz="2400" b="1" dirty="0"/>
          </a:p>
        </p:txBody>
      </p:sp>
      <p:sp>
        <p:nvSpPr>
          <p:cNvPr id="7" name="Text 4"/>
          <p:cNvSpPr/>
          <p:nvPr/>
        </p:nvSpPr>
        <p:spPr>
          <a:xfrm>
            <a:off x="7915660" y="2298787"/>
            <a:ext cx="3086100" cy="3857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038"/>
              </a:lnSpc>
              <a:buNone/>
            </a:pPr>
            <a:r>
              <a:rPr lang="en-US" sz="36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Random Forest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741682" y="3320002"/>
            <a:ext cx="6150054" cy="22728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 ensemble method that builds multiple decision trees and merges them to obtain a more accurate and stable prediction, using bootstrap sampling and random feature selection.</a:t>
            </a:r>
            <a:endParaRPr lang="en-US" sz="2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AB5997-F0EA-1C91-A648-9EB7521D93E3}"/>
              </a:ext>
            </a:extLst>
          </p:cNvPr>
          <p:cNvSpPr/>
          <p:nvPr/>
        </p:nvSpPr>
        <p:spPr>
          <a:xfrm>
            <a:off x="451413" y="785027"/>
            <a:ext cx="13919199" cy="1694763"/>
          </a:xfrm>
          <a:prstGeom prst="roundRect">
            <a:avLst/>
          </a:prstGeom>
          <a:solidFill>
            <a:srgbClr val="A094E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CE86A9A-CDCC-365E-CC67-2FB00C679C40}"/>
              </a:ext>
            </a:extLst>
          </p:cNvPr>
          <p:cNvSpPr/>
          <p:nvPr/>
        </p:nvSpPr>
        <p:spPr>
          <a:xfrm>
            <a:off x="535440" y="887692"/>
            <a:ext cx="6918657" cy="1493134"/>
          </a:xfrm>
          <a:prstGeom prst="ellipse">
            <a:avLst/>
          </a:prstGeom>
          <a:solidFill>
            <a:srgbClr val="CEC8F4"/>
          </a:solidFill>
          <a:ln>
            <a:solidFill>
              <a:srgbClr val="CEC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1011421" y="1265939"/>
            <a:ext cx="5893832" cy="73664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01"/>
              </a:lnSpc>
              <a:buNone/>
            </a:pPr>
            <a:r>
              <a:rPr lang="en-US" sz="660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Implementation</a:t>
            </a:r>
            <a:endParaRPr lang="en-US" sz="6600" dirty="0"/>
          </a:p>
        </p:txBody>
      </p:sp>
      <p:sp>
        <p:nvSpPr>
          <p:cNvPr id="6" name="Shape 2"/>
          <p:cNvSpPr/>
          <p:nvPr/>
        </p:nvSpPr>
        <p:spPr>
          <a:xfrm>
            <a:off x="779927" y="2719137"/>
            <a:ext cx="4135517" cy="4235116"/>
          </a:xfrm>
          <a:prstGeom prst="roundRect">
            <a:avLst>
              <a:gd name="adj" fmla="val 3435"/>
            </a:avLst>
          </a:prstGeom>
          <a:solidFill>
            <a:srgbClr val="E9E6FA">
              <a:alpha val="84000"/>
            </a:srgbClr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944840" y="3021829"/>
            <a:ext cx="2946916" cy="3682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1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Data Preprocessing</a:t>
            </a:r>
            <a:endParaRPr lang="en-US" sz="3200" b="1" dirty="0"/>
          </a:p>
        </p:txBody>
      </p:sp>
      <p:sp>
        <p:nvSpPr>
          <p:cNvPr id="8" name="Text 4"/>
          <p:cNvSpPr/>
          <p:nvPr/>
        </p:nvSpPr>
        <p:spPr>
          <a:xfrm>
            <a:off x="1026079" y="3692781"/>
            <a:ext cx="3648789" cy="1703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Handling missing values, encoding categorical variables, and feature scaling to prepare the data for machine learning models.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5394552" y="2719137"/>
            <a:ext cx="4135517" cy="4235116"/>
          </a:xfrm>
          <a:prstGeom prst="roundRect">
            <a:avLst>
              <a:gd name="adj" fmla="val 343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75055" y="3021829"/>
            <a:ext cx="2946916" cy="3682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1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Training</a:t>
            </a:r>
            <a:endParaRPr lang="en-US" sz="3200" b="1" dirty="0"/>
          </a:p>
        </p:txBody>
      </p:sp>
      <p:sp>
        <p:nvSpPr>
          <p:cNvPr id="11" name="Text 7"/>
          <p:cNvSpPr/>
          <p:nvPr/>
        </p:nvSpPr>
        <p:spPr>
          <a:xfrm>
            <a:off x="5635128" y="3758146"/>
            <a:ext cx="3648789" cy="2394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Implementing Linear Regression and Random Forest algorithms to predict car prices based on the preprocessed data.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0003601" y="2707106"/>
            <a:ext cx="4135517" cy="4235116"/>
          </a:xfrm>
          <a:prstGeom prst="roundRect">
            <a:avLst>
              <a:gd name="adj" fmla="val 3435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10174887" y="3021829"/>
            <a:ext cx="2946916" cy="36826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901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 Evaluation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10201684" y="3768031"/>
            <a:ext cx="3648789" cy="18859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970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Assessing the performance of the models using metrics like Mean Absolute Error (MAE), Mean Squared Error (MSE), and R-squared.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4723331-C0D9-7D3D-3F3A-F30D1B00090D}"/>
              </a:ext>
            </a:extLst>
          </p:cNvPr>
          <p:cNvSpPr/>
          <p:nvPr/>
        </p:nvSpPr>
        <p:spPr>
          <a:xfrm>
            <a:off x="7176582" y="0"/>
            <a:ext cx="7453818" cy="8229600"/>
          </a:xfrm>
          <a:prstGeom prst="rect">
            <a:avLst/>
          </a:prstGeom>
          <a:solidFill>
            <a:srgbClr val="A5A5A5">
              <a:alpha val="64706"/>
            </a:srgbClr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65C49-1962-D8C2-6596-C7B213E2F558}"/>
              </a:ext>
            </a:extLst>
          </p:cNvPr>
          <p:cNvSpPr/>
          <p:nvPr/>
        </p:nvSpPr>
        <p:spPr>
          <a:xfrm>
            <a:off x="-14115" y="0"/>
            <a:ext cx="7176702" cy="8229600"/>
          </a:xfrm>
          <a:prstGeom prst="rect">
            <a:avLst/>
          </a:prstGeom>
          <a:solidFill>
            <a:srgbClr val="C7C7C7">
              <a:alpha val="64706"/>
            </a:srgbClr>
          </a:solidFill>
          <a:ln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659863" y="129601"/>
            <a:ext cx="8123190" cy="7444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863"/>
              </a:lnSpc>
              <a:buNone/>
            </a:pPr>
            <a:r>
              <a:rPr lang="en-US" sz="4691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Graphs Using Random Forest</a:t>
            </a:r>
            <a:endParaRPr lang="en-US" sz="4691" dirty="0"/>
          </a:p>
        </p:txBody>
      </p:sp>
      <p:sp>
        <p:nvSpPr>
          <p:cNvPr id="7" name="Text 3"/>
          <p:cNvSpPr/>
          <p:nvPr/>
        </p:nvSpPr>
        <p:spPr>
          <a:xfrm>
            <a:off x="833914" y="6069211"/>
            <a:ext cx="6302573" cy="16585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2"/>
              </a:lnSpc>
              <a:buNone/>
            </a:pPr>
            <a:r>
              <a:rPr lang="en-US" sz="2800" b="1" dirty="0"/>
              <a:t>                        </a:t>
            </a:r>
            <a:r>
              <a:rPr lang="en-US" sz="3200" b="1" dirty="0"/>
              <a:t>Boxplot  </a:t>
            </a:r>
          </a:p>
          <a:p>
            <a:pPr marL="0" indent="0" algn="l">
              <a:lnSpc>
                <a:spcPts val="3002"/>
              </a:lnSpc>
              <a:buNone/>
            </a:pPr>
            <a:endParaRPr lang="en-US" sz="3200" b="1" dirty="0"/>
          </a:p>
          <a:p>
            <a:pPr marL="0" indent="0" algn="l">
              <a:lnSpc>
                <a:spcPts val="3002"/>
              </a:lnSpc>
              <a:buNone/>
            </a:pPr>
            <a:r>
              <a:rPr lang="en-US" sz="2800" b="1" dirty="0"/>
              <a:t>        Between company and price</a:t>
            </a:r>
          </a:p>
        </p:txBody>
      </p:sp>
      <p:sp>
        <p:nvSpPr>
          <p:cNvPr id="9" name="Text 4"/>
          <p:cNvSpPr/>
          <p:nvPr/>
        </p:nvSpPr>
        <p:spPr>
          <a:xfrm>
            <a:off x="7493794" y="6069211"/>
            <a:ext cx="2978468" cy="3723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932"/>
              </a:lnSpc>
              <a:buNone/>
            </a:pPr>
            <a:endParaRPr lang="en-US" sz="2345" dirty="0"/>
          </a:p>
        </p:txBody>
      </p:sp>
      <p:sp>
        <p:nvSpPr>
          <p:cNvPr id="10" name="Text 5"/>
          <p:cNvSpPr/>
          <p:nvPr/>
        </p:nvSpPr>
        <p:spPr>
          <a:xfrm>
            <a:off x="7922735" y="5913977"/>
            <a:ext cx="5921417" cy="1868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2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               </a:t>
            </a:r>
            <a:r>
              <a:rPr lang="en-US" sz="32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Swarmplot</a:t>
            </a: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</a:p>
          <a:p>
            <a:pPr marL="0" indent="0" algn="l">
              <a:lnSpc>
                <a:spcPts val="3002"/>
              </a:lnSpc>
              <a:buNone/>
            </a:pPr>
            <a:endParaRPr lang="en-US" sz="2800" b="1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0" indent="0" algn="l">
              <a:lnSpc>
                <a:spcPts val="3002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     Between year and price</a:t>
            </a:r>
            <a:endParaRPr lang="en-US" sz="28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16176B5-199C-AB04-580E-34F4AA9C1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154" y="1188115"/>
            <a:ext cx="6695858" cy="43520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8305FB-7B2F-AA9C-7839-AD9ACD20D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0281" y="1188115"/>
            <a:ext cx="7138544" cy="433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01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801A1D3-8B0F-5D6B-C9C7-D63F8DBB6609}"/>
              </a:ext>
            </a:extLst>
          </p:cNvPr>
          <p:cNvSpPr/>
          <p:nvPr/>
        </p:nvSpPr>
        <p:spPr>
          <a:xfrm>
            <a:off x="2" y="0"/>
            <a:ext cx="7136485" cy="8229600"/>
          </a:xfrm>
          <a:prstGeom prst="rect">
            <a:avLst/>
          </a:prstGeom>
          <a:solidFill>
            <a:srgbClr val="A5A5A5">
              <a:alpha val="64706"/>
            </a:srgbClr>
          </a:solidFill>
          <a:ln>
            <a:solidFill>
              <a:srgbClr val="A5A5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8E558-08A9-20F8-B40A-5C7CA7356B1B}"/>
              </a:ext>
            </a:extLst>
          </p:cNvPr>
          <p:cNvSpPr/>
          <p:nvPr/>
        </p:nvSpPr>
        <p:spPr>
          <a:xfrm>
            <a:off x="7136488" y="0"/>
            <a:ext cx="7493914" cy="8229600"/>
          </a:xfrm>
          <a:prstGeom prst="rect">
            <a:avLst/>
          </a:prstGeom>
          <a:solidFill>
            <a:srgbClr val="C7C7C7">
              <a:alpha val="64706"/>
            </a:srgbClr>
          </a:solidFill>
          <a:ln>
            <a:solidFill>
              <a:srgbClr val="C7C7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3"/>
          <p:cNvSpPr/>
          <p:nvPr/>
        </p:nvSpPr>
        <p:spPr>
          <a:xfrm>
            <a:off x="1027706" y="5666873"/>
            <a:ext cx="6108781" cy="19611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2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                  Relplot</a:t>
            </a:r>
          </a:p>
          <a:p>
            <a:pPr marL="0" indent="0" algn="l">
              <a:lnSpc>
                <a:spcPts val="3002"/>
              </a:lnSpc>
              <a:buNone/>
            </a:pPr>
            <a:endParaRPr lang="en-US" sz="2800" b="1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3002"/>
              </a:lnSpc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Between kilometers driven and price</a:t>
            </a:r>
            <a:endParaRPr lang="en-US" sz="2800" b="1" dirty="0"/>
          </a:p>
          <a:p>
            <a:pPr marL="0" indent="0" algn="l">
              <a:lnSpc>
                <a:spcPts val="3002"/>
              </a:lnSpc>
              <a:buNone/>
            </a:pPr>
            <a:endParaRPr lang="en-US" sz="2800" b="1" dirty="0"/>
          </a:p>
        </p:txBody>
      </p:sp>
      <p:sp>
        <p:nvSpPr>
          <p:cNvPr id="10" name="Text 5"/>
          <p:cNvSpPr/>
          <p:nvPr/>
        </p:nvSpPr>
        <p:spPr>
          <a:xfrm>
            <a:off x="8164191" y="5617007"/>
            <a:ext cx="5641261" cy="2060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3002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                Boxplot</a:t>
            </a:r>
          </a:p>
          <a:p>
            <a:pPr marL="0" indent="0" algn="l">
              <a:lnSpc>
                <a:spcPts val="3002"/>
              </a:lnSpc>
              <a:buNone/>
            </a:pPr>
            <a:endParaRPr lang="en-US" sz="2800" b="1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>
              <a:lnSpc>
                <a:spcPts val="3002"/>
              </a:lnSpc>
            </a:pPr>
            <a:r>
              <a:rPr lang="en-US" sz="28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         Between fuel type and Price</a:t>
            </a:r>
            <a:endParaRPr lang="en-US" sz="2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6A28A9-AFA3-B0BB-4B12-E9E0F9A8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1" y="756524"/>
            <a:ext cx="6632282" cy="42850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BA3F5EA-2C1D-8E53-96C1-8505296BD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199" y="756524"/>
            <a:ext cx="7136607" cy="4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69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447FBE-C263-5060-069B-B2ACB883376B}"/>
              </a:ext>
            </a:extLst>
          </p:cNvPr>
          <p:cNvSpPr/>
          <p:nvPr/>
        </p:nvSpPr>
        <p:spPr>
          <a:xfrm>
            <a:off x="5222250" y="0"/>
            <a:ext cx="3921750" cy="8229600"/>
          </a:xfrm>
          <a:prstGeom prst="rect">
            <a:avLst/>
          </a:prstGeom>
          <a:solidFill>
            <a:srgbClr val="EDE5D8"/>
          </a:solidFill>
          <a:ln>
            <a:solidFill>
              <a:srgbClr val="F6E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5EDE2"/>
              </a:solidFill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947380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Experimental Results</a:t>
            </a:r>
            <a:endParaRPr lang="en-US" sz="4860" dirty="0"/>
          </a:p>
        </p:txBody>
      </p:sp>
      <p:sp>
        <p:nvSpPr>
          <p:cNvPr id="6" name="Shape 2"/>
          <p:cNvSpPr/>
          <p:nvPr/>
        </p:nvSpPr>
        <p:spPr>
          <a:xfrm>
            <a:off x="864037" y="2089190"/>
            <a:ext cx="7415927" cy="2940129"/>
          </a:xfrm>
          <a:prstGeom prst="roundRect">
            <a:avLst>
              <a:gd name="adj" fmla="val 3527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79277" y="2104430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126331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</a:t>
            </a:r>
            <a:endParaRPr lang="en-US" sz="2400" b="1" dirty="0"/>
          </a:p>
        </p:txBody>
      </p:sp>
      <p:sp>
        <p:nvSpPr>
          <p:cNvPr id="9" name="Text 5"/>
          <p:cNvSpPr/>
          <p:nvPr/>
        </p:nvSpPr>
        <p:spPr>
          <a:xfrm>
            <a:off x="3445674" y="2210752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R-squared</a:t>
            </a:r>
            <a:endParaRPr lang="en-US" sz="2400" b="1" dirty="0"/>
          </a:p>
        </p:txBody>
      </p:sp>
      <p:sp>
        <p:nvSpPr>
          <p:cNvPr id="10" name="Text 6"/>
          <p:cNvSpPr/>
          <p:nvPr/>
        </p:nvSpPr>
        <p:spPr>
          <a:xfrm>
            <a:off x="6167795" y="22352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Accuracy</a:t>
            </a:r>
            <a:endParaRPr lang="en-US" sz="2400" b="1" dirty="0"/>
          </a:p>
        </p:txBody>
      </p:sp>
      <p:sp>
        <p:nvSpPr>
          <p:cNvPr id="12" name="Shape 8"/>
          <p:cNvSpPr/>
          <p:nvPr/>
        </p:nvSpPr>
        <p:spPr>
          <a:xfrm>
            <a:off x="879277" y="2810947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126331" y="2966680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Linear Regression</a:t>
            </a:r>
            <a:endParaRPr lang="en-US" sz="2000" b="1" dirty="0"/>
          </a:p>
        </p:txBody>
      </p:sp>
      <p:sp>
        <p:nvSpPr>
          <p:cNvPr id="14" name="Text 10"/>
          <p:cNvSpPr/>
          <p:nvPr/>
        </p:nvSpPr>
        <p:spPr>
          <a:xfrm>
            <a:off x="3641578" y="2959061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0.54</a:t>
            </a:r>
          </a:p>
        </p:txBody>
      </p:sp>
      <p:sp>
        <p:nvSpPr>
          <p:cNvPr id="15" name="Text 11"/>
          <p:cNvSpPr/>
          <p:nvPr/>
        </p:nvSpPr>
        <p:spPr>
          <a:xfrm>
            <a:off x="6363712" y="29776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0.92</a:t>
            </a:r>
            <a:endParaRPr lang="en-US" sz="1944" dirty="0"/>
          </a:p>
        </p:txBody>
      </p:sp>
      <p:sp>
        <p:nvSpPr>
          <p:cNvPr id="17" name="Shape 13"/>
          <p:cNvSpPr/>
          <p:nvPr/>
        </p:nvSpPr>
        <p:spPr>
          <a:xfrm>
            <a:off x="894517" y="3920133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1126331" y="4068247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Random Forest</a:t>
            </a:r>
            <a:endParaRPr lang="en-US" sz="2000" b="1" dirty="0"/>
          </a:p>
        </p:txBody>
      </p:sp>
      <p:sp>
        <p:nvSpPr>
          <p:cNvPr id="19" name="Text 15"/>
          <p:cNvSpPr/>
          <p:nvPr/>
        </p:nvSpPr>
        <p:spPr>
          <a:xfrm>
            <a:off x="3641577" y="406062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0.66</a:t>
            </a:r>
            <a:endParaRPr lang="en-US" sz="1944" dirty="0"/>
          </a:p>
        </p:txBody>
      </p:sp>
      <p:sp>
        <p:nvSpPr>
          <p:cNvPr id="20" name="Text 16"/>
          <p:cNvSpPr/>
          <p:nvPr/>
        </p:nvSpPr>
        <p:spPr>
          <a:xfrm>
            <a:off x="6363712" y="401053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r>
              <a:rPr lang="en-US" sz="19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</a:rPr>
              <a:t>0.94</a:t>
            </a:r>
            <a:endParaRPr lang="en-US" sz="1944" dirty="0"/>
          </a:p>
        </p:txBody>
      </p:sp>
      <p:sp>
        <p:nvSpPr>
          <p:cNvPr id="22" name="Text 18"/>
          <p:cNvSpPr/>
          <p:nvPr/>
        </p:nvSpPr>
        <p:spPr>
          <a:xfrm>
            <a:off x="864037" y="5306973"/>
            <a:ext cx="7415927" cy="19752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3110"/>
              </a:lnSpc>
              <a:buNone/>
            </a:pPr>
            <a:r>
              <a:rPr lang="en-US" sz="24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Random Forest model outperformed the Linear Regression model, achieving R-squared value and accuracy. This suggests that the Random Forest algorithm is better suited for capturing the linear relationships within the car price data</a:t>
            </a:r>
            <a:r>
              <a:rPr lang="en-US" sz="1944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194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B603990-6332-9CDC-79DE-861AE4050ED3}"/>
              </a:ext>
            </a:extLst>
          </p:cNvPr>
          <p:cNvSpPr/>
          <p:nvPr/>
        </p:nvSpPr>
        <p:spPr>
          <a:xfrm>
            <a:off x="1620456" y="0"/>
            <a:ext cx="6431457" cy="822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7A0142-1222-8246-CC5B-7B7A52C01155}"/>
              </a:ext>
            </a:extLst>
          </p:cNvPr>
          <p:cNvSpPr/>
          <p:nvPr/>
        </p:nvSpPr>
        <p:spPr>
          <a:xfrm>
            <a:off x="8051914" y="0"/>
            <a:ext cx="6578486" cy="822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864037" y="400182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</a:rPr>
              <a:t>Input Screen</a:t>
            </a:r>
            <a:endParaRPr lang="en-US" sz="4860" dirty="0"/>
          </a:p>
        </p:txBody>
      </p:sp>
      <p:sp>
        <p:nvSpPr>
          <p:cNvPr id="8" name="Text 4"/>
          <p:cNvSpPr/>
          <p:nvPr/>
        </p:nvSpPr>
        <p:spPr>
          <a:xfrm>
            <a:off x="1126331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2976443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4822746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1" name="Text 7"/>
          <p:cNvSpPr/>
          <p:nvPr/>
        </p:nvSpPr>
        <p:spPr>
          <a:xfrm>
            <a:off x="6669048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3" name="Text 9"/>
          <p:cNvSpPr/>
          <p:nvPr/>
        </p:nvSpPr>
        <p:spPr>
          <a:xfrm>
            <a:off x="1126331" y="2966680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4" name="Text 10"/>
          <p:cNvSpPr/>
          <p:nvPr/>
        </p:nvSpPr>
        <p:spPr>
          <a:xfrm>
            <a:off x="2976443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5" name="Text 11"/>
          <p:cNvSpPr/>
          <p:nvPr/>
        </p:nvSpPr>
        <p:spPr>
          <a:xfrm>
            <a:off x="4822746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6" name="Text 12"/>
          <p:cNvSpPr/>
          <p:nvPr/>
        </p:nvSpPr>
        <p:spPr>
          <a:xfrm>
            <a:off x="6669048" y="2966680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8" name="Text 14"/>
          <p:cNvSpPr/>
          <p:nvPr/>
        </p:nvSpPr>
        <p:spPr>
          <a:xfrm>
            <a:off x="1126331" y="4068247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9" name="Text 15"/>
          <p:cNvSpPr/>
          <p:nvPr/>
        </p:nvSpPr>
        <p:spPr>
          <a:xfrm>
            <a:off x="2976443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0" name="Text 16"/>
          <p:cNvSpPr/>
          <p:nvPr/>
        </p:nvSpPr>
        <p:spPr>
          <a:xfrm>
            <a:off x="4822746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1" name="Text 17"/>
          <p:cNvSpPr/>
          <p:nvPr/>
        </p:nvSpPr>
        <p:spPr>
          <a:xfrm>
            <a:off x="6669048" y="4068247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FCB258A-6F44-C4C9-AD7A-268A8EFB3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23" y="1371597"/>
            <a:ext cx="11938781" cy="665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06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437CEDE-5088-E8F9-4986-E1D8CD542DBF}"/>
              </a:ext>
            </a:extLst>
          </p:cNvPr>
          <p:cNvSpPr/>
          <p:nvPr/>
        </p:nvSpPr>
        <p:spPr>
          <a:xfrm>
            <a:off x="1527858" y="0"/>
            <a:ext cx="6643869" cy="822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ACD7B-0BBC-B252-25AC-01FA294B562D}"/>
              </a:ext>
            </a:extLst>
          </p:cNvPr>
          <p:cNvSpPr/>
          <p:nvPr/>
        </p:nvSpPr>
        <p:spPr>
          <a:xfrm>
            <a:off x="8171728" y="0"/>
            <a:ext cx="6458672" cy="822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864037" y="400182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</a:rPr>
              <a:t>Output Screen</a:t>
            </a:r>
            <a:endParaRPr lang="en-US" sz="4860" dirty="0"/>
          </a:p>
        </p:txBody>
      </p:sp>
      <p:sp>
        <p:nvSpPr>
          <p:cNvPr id="8" name="Text 4"/>
          <p:cNvSpPr/>
          <p:nvPr/>
        </p:nvSpPr>
        <p:spPr>
          <a:xfrm>
            <a:off x="1126331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2976443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4822746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1" name="Text 7"/>
          <p:cNvSpPr/>
          <p:nvPr/>
        </p:nvSpPr>
        <p:spPr>
          <a:xfrm>
            <a:off x="6669048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3" name="Text 9"/>
          <p:cNvSpPr/>
          <p:nvPr/>
        </p:nvSpPr>
        <p:spPr>
          <a:xfrm>
            <a:off x="1126331" y="2966680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4" name="Text 10"/>
          <p:cNvSpPr/>
          <p:nvPr/>
        </p:nvSpPr>
        <p:spPr>
          <a:xfrm>
            <a:off x="2976443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5" name="Text 11"/>
          <p:cNvSpPr/>
          <p:nvPr/>
        </p:nvSpPr>
        <p:spPr>
          <a:xfrm>
            <a:off x="4822746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6" name="Text 12"/>
          <p:cNvSpPr/>
          <p:nvPr/>
        </p:nvSpPr>
        <p:spPr>
          <a:xfrm>
            <a:off x="6669048" y="2966680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8" name="Text 14"/>
          <p:cNvSpPr/>
          <p:nvPr/>
        </p:nvSpPr>
        <p:spPr>
          <a:xfrm>
            <a:off x="1126331" y="4068247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9" name="Text 15"/>
          <p:cNvSpPr/>
          <p:nvPr/>
        </p:nvSpPr>
        <p:spPr>
          <a:xfrm>
            <a:off x="2976443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0" name="Text 16"/>
          <p:cNvSpPr/>
          <p:nvPr/>
        </p:nvSpPr>
        <p:spPr>
          <a:xfrm>
            <a:off x="4822746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1" name="Text 17"/>
          <p:cNvSpPr/>
          <p:nvPr/>
        </p:nvSpPr>
        <p:spPr>
          <a:xfrm>
            <a:off x="6669048" y="4068247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0BCA2-FA86-F570-7E1D-8657B0903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727" y="1493627"/>
            <a:ext cx="12192000" cy="64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6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854829-F1F8-13B4-B229-F93CC1F663A3}"/>
              </a:ext>
            </a:extLst>
          </p:cNvPr>
          <p:cNvSpPr/>
          <p:nvPr/>
        </p:nvSpPr>
        <p:spPr>
          <a:xfrm>
            <a:off x="1620456" y="0"/>
            <a:ext cx="6431457" cy="822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A3E028-6F0B-AAD9-C5DE-89CAC6212ACE}"/>
              </a:ext>
            </a:extLst>
          </p:cNvPr>
          <p:cNvSpPr/>
          <p:nvPr/>
        </p:nvSpPr>
        <p:spPr>
          <a:xfrm>
            <a:off x="8051914" y="0"/>
            <a:ext cx="6578486" cy="822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 1"/>
          <p:cNvSpPr/>
          <p:nvPr/>
        </p:nvSpPr>
        <p:spPr>
          <a:xfrm>
            <a:off x="864037" y="400182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</a:rPr>
              <a:t>Output Screen</a:t>
            </a:r>
            <a:endParaRPr lang="en-US" sz="4860" dirty="0"/>
          </a:p>
        </p:txBody>
      </p:sp>
      <p:sp>
        <p:nvSpPr>
          <p:cNvPr id="8" name="Text 4"/>
          <p:cNvSpPr/>
          <p:nvPr/>
        </p:nvSpPr>
        <p:spPr>
          <a:xfrm>
            <a:off x="1126331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2976443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0" name="Text 6"/>
          <p:cNvSpPr/>
          <p:nvPr/>
        </p:nvSpPr>
        <p:spPr>
          <a:xfrm>
            <a:off x="4822746" y="2260163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1" name="Text 7"/>
          <p:cNvSpPr/>
          <p:nvPr/>
        </p:nvSpPr>
        <p:spPr>
          <a:xfrm>
            <a:off x="6669048" y="2260163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3" name="Text 9"/>
          <p:cNvSpPr/>
          <p:nvPr/>
        </p:nvSpPr>
        <p:spPr>
          <a:xfrm>
            <a:off x="1126331" y="2966680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4" name="Text 10"/>
          <p:cNvSpPr/>
          <p:nvPr/>
        </p:nvSpPr>
        <p:spPr>
          <a:xfrm>
            <a:off x="2976443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5" name="Text 11"/>
          <p:cNvSpPr/>
          <p:nvPr/>
        </p:nvSpPr>
        <p:spPr>
          <a:xfrm>
            <a:off x="4822746" y="2966680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6" name="Text 12"/>
          <p:cNvSpPr/>
          <p:nvPr/>
        </p:nvSpPr>
        <p:spPr>
          <a:xfrm>
            <a:off x="6669048" y="2966680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8" name="Text 14"/>
          <p:cNvSpPr/>
          <p:nvPr/>
        </p:nvSpPr>
        <p:spPr>
          <a:xfrm>
            <a:off x="1126331" y="4068247"/>
            <a:ext cx="1348859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19" name="Text 15"/>
          <p:cNvSpPr/>
          <p:nvPr/>
        </p:nvSpPr>
        <p:spPr>
          <a:xfrm>
            <a:off x="2976443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0" name="Text 16"/>
          <p:cNvSpPr/>
          <p:nvPr/>
        </p:nvSpPr>
        <p:spPr>
          <a:xfrm>
            <a:off x="4822746" y="4068247"/>
            <a:ext cx="134504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sp>
        <p:nvSpPr>
          <p:cNvPr id="21" name="Text 17"/>
          <p:cNvSpPr/>
          <p:nvPr/>
        </p:nvSpPr>
        <p:spPr>
          <a:xfrm>
            <a:off x="6669048" y="4068247"/>
            <a:ext cx="1348859" cy="39504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3110"/>
              </a:lnSpc>
              <a:buNone/>
            </a:pPr>
            <a:endParaRPr lang="en-US" sz="1944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F4C5B7-7B6E-5386-EC03-51E0748A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914" y="1326009"/>
            <a:ext cx="12192000" cy="661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300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D1F396F-0267-7901-16A8-0E57ED4FA965}"/>
              </a:ext>
            </a:extLst>
          </p:cNvPr>
          <p:cNvSpPr/>
          <p:nvPr/>
        </p:nvSpPr>
        <p:spPr>
          <a:xfrm>
            <a:off x="4502552" y="0"/>
            <a:ext cx="4641448" cy="822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7958" y="635079"/>
            <a:ext cx="5771317" cy="7212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681"/>
              </a:lnSpc>
              <a:buNone/>
            </a:pPr>
            <a:r>
              <a:rPr lang="en-US" sz="4544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Conclusion</a:t>
            </a:r>
            <a:endParaRPr lang="en-US" sz="4544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58" y="1702594"/>
            <a:ext cx="577096" cy="57709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07958" y="2510433"/>
            <a:ext cx="2885599" cy="3607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Impact on Industry</a:t>
            </a:r>
            <a:endParaRPr lang="en-US" sz="3200" dirty="0"/>
          </a:p>
        </p:txBody>
      </p:sp>
      <p:sp>
        <p:nvSpPr>
          <p:cNvPr id="8" name="Text 3"/>
          <p:cNvSpPr/>
          <p:nvPr/>
        </p:nvSpPr>
        <p:spPr>
          <a:xfrm>
            <a:off x="807958" y="3009662"/>
            <a:ext cx="7528084" cy="1107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908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implementation of machine learning for car price predictions can revolutionize the automotive industry by providing more accurate and dynamic pricing models.</a:t>
            </a:r>
            <a:endParaRPr lang="en-US" sz="2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958" y="4810125"/>
            <a:ext cx="577096" cy="57709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07958" y="5617964"/>
            <a:ext cx="2885599" cy="36075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84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Future Prospects</a:t>
            </a:r>
            <a:endParaRPr lang="en-US" sz="3200" dirty="0"/>
          </a:p>
        </p:txBody>
      </p:sp>
      <p:sp>
        <p:nvSpPr>
          <p:cNvPr id="11" name="Text 5"/>
          <p:cNvSpPr/>
          <p:nvPr/>
        </p:nvSpPr>
        <p:spPr>
          <a:xfrm>
            <a:off x="807958" y="6117192"/>
            <a:ext cx="7528084" cy="18958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2908"/>
              </a:lnSpc>
              <a:buNone/>
            </a:pPr>
            <a:r>
              <a:rPr lang="en-US" sz="2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There is significant potential for further growth and innovation in the field of machine learning-based car price predictions, including exploring advanced models and incorporating additional features for enhanced accuracy.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EBFFEDD-506E-CF5F-8B0A-228BD7D0F34C}"/>
              </a:ext>
            </a:extLst>
          </p:cNvPr>
          <p:cNvSpPr/>
          <p:nvPr/>
        </p:nvSpPr>
        <p:spPr>
          <a:xfrm>
            <a:off x="9676435" y="0"/>
            <a:ext cx="4940459" cy="8229600"/>
          </a:xfrm>
          <a:prstGeom prst="rect">
            <a:avLst/>
          </a:prstGeom>
          <a:solidFill>
            <a:srgbClr val="BB9E7E"/>
          </a:solidFill>
          <a:ln>
            <a:solidFill>
              <a:srgbClr val="BB9E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26070F-3F88-C92D-A4D5-814F70B6842D}"/>
              </a:ext>
            </a:extLst>
          </p:cNvPr>
          <p:cNvSpPr/>
          <p:nvPr/>
        </p:nvSpPr>
        <p:spPr>
          <a:xfrm>
            <a:off x="5810490" y="0"/>
            <a:ext cx="3865945" cy="8229600"/>
          </a:xfrm>
          <a:prstGeom prst="rect">
            <a:avLst/>
          </a:prstGeom>
          <a:solidFill>
            <a:srgbClr val="AF9A87"/>
          </a:solidFill>
          <a:ln>
            <a:solidFill>
              <a:srgbClr val="AF9A8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810491" cy="8229600"/>
          </a:xfrm>
          <a:prstGeom prst="rect">
            <a:avLst/>
          </a:prstGeom>
          <a:ln>
            <a:solidFill>
              <a:srgbClr val="A99584"/>
            </a:solidFill>
          </a:ln>
        </p:spPr>
      </p:pic>
      <p:sp>
        <p:nvSpPr>
          <p:cNvPr id="5" name="Text 1"/>
          <p:cNvSpPr/>
          <p:nvPr/>
        </p:nvSpPr>
        <p:spPr>
          <a:xfrm>
            <a:off x="6194026" y="457539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r>
              <a:rPr lang="en-US" sz="4860" b="1" dirty="0">
                <a:solidFill>
                  <a:srgbClr val="23197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References</a:t>
            </a:r>
            <a:endParaRPr lang="en-US" sz="486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3E8539-C221-416D-B69E-37AD0EA03200}"/>
              </a:ext>
            </a:extLst>
          </p:cNvPr>
          <p:cNvSpPr txBox="1"/>
          <p:nvPr/>
        </p:nvSpPr>
        <p:spPr>
          <a:xfrm>
            <a:off x="6194026" y="1769785"/>
            <a:ext cx="803933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 NATIONAL TRANSPORT AUTHORITY. 2014. </a:t>
            </a:r>
          </a:p>
          <a:p>
            <a:r>
              <a:rPr lang="en-US" sz="2400" b="1" dirty="0"/>
              <a:t>Available from:  http://nta.gov.mu/English/Statistics/Pages/Archive.aspx [Accessed 15 January 2014]  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MOTORS MEGA. 2014. </a:t>
            </a:r>
          </a:p>
          <a:p>
            <a:r>
              <a:rPr lang="en-US" sz="2400" b="1" dirty="0"/>
              <a:t>   Available from:     </a:t>
            </a:r>
            <a:r>
              <a:rPr lang="en-US" sz="2400" b="1" dirty="0">
                <a:hlinkClick r:id="rId4"/>
              </a:rPr>
              <a:t>http://motors.mega.mu/news/2013/12/17/auto-market8decrease-sales-newcars/</a:t>
            </a:r>
            <a:endParaRPr lang="en-US" sz="2400" b="1" dirty="0"/>
          </a:p>
          <a:p>
            <a:r>
              <a:rPr lang="en-US" sz="2400" b="1" dirty="0"/>
              <a:t> [Accessed 17 January 2014]. </a:t>
            </a:r>
          </a:p>
          <a:p>
            <a:endParaRPr lang="en-US" sz="2400" b="1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b="1" dirty="0"/>
              <a:t>LISTIANI, M., 2009. Support Vector Regression Analysis for Price Prediction in a Car Leasing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6350437" y="1636633"/>
            <a:ext cx="6172200" cy="7715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6075"/>
              </a:lnSpc>
              <a:buNone/>
            </a:pPr>
            <a:endParaRPr lang="en-US" sz="4860" dirty="0"/>
          </a:p>
        </p:txBody>
      </p:sp>
      <p:sp>
        <p:nvSpPr>
          <p:cNvPr id="6" name="Text 2"/>
          <p:cNvSpPr/>
          <p:nvPr/>
        </p:nvSpPr>
        <p:spPr>
          <a:xfrm>
            <a:off x="6745367" y="2778443"/>
            <a:ext cx="7020997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3110"/>
              </a:lnSpc>
              <a:buSzPct val="100000"/>
            </a:pPr>
            <a:endParaRPr lang="en-US" sz="1944" dirty="0"/>
          </a:p>
        </p:txBody>
      </p:sp>
      <p:sp>
        <p:nvSpPr>
          <p:cNvPr id="7" name="Text 3"/>
          <p:cNvSpPr/>
          <p:nvPr/>
        </p:nvSpPr>
        <p:spPr>
          <a:xfrm>
            <a:off x="6745367" y="3654862"/>
            <a:ext cx="7020997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3110"/>
              </a:lnSpc>
              <a:buSzPct val="100000"/>
            </a:pPr>
            <a:endParaRPr lang="en-US" sz="1944" dirty="0"/>
          </a:p>
        </p:txBody>
      </p:sp>
      <p:sp>
        <p:nvSpPr>
          <p:cNvPr id="8" name="Text 4"/>
          <p:cNvSpPr/>
          <p:nvPr/>
        </p:nvSpPr>
        <p:spPr>
          <a:xfrm>
            <a:off x="6745367" y="4531281"/>
            <a:ext cx="7020997" cy="1185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ts val="3110"/>
              </a:lnSpc>
              <a:buSzPct val="100000"/>
            </a:pPr>
            <a:endParaRPr lang="en-US" sz="1944" dirty="0"/>
          </a:p>
        </p:txBody>
      </p:sp>
      <p:sp>
        <p:nvSpPr>
          <p:cNvPr id="9" name="Text 5"/>
          <p:cNvSpPr/>
          <p:nvPr/>
        </p:nvSpPr>
        <p:spPr>
          <a:xfrm>
            <a:off x="6745367" y="5802749"/>
            <a:ext cx="7020997" cy="790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ts val="3110"/>
              </a:lnSpc>
              <a:buSzPct val="100000"/>
              <a:buChar char="•"/>
            </a:pPr>
            <a:endParaRPr lang="en-US" sz="1944" dirty="0"/>
          </a:p>
        </p:txBody>
      </p:sp>
    </p:spTree>
    <p:extLst>
      <p:ext uri="{BB962C8B-B14F-4D97-AF65-F5344CB8AC3E}">
        <p14:creationId xmlns:p14="http://schemas.microsoft.com/office/powerpoint/2010/main" val="76094031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575</TotalTime>
  <Words>708</Words>
  <Application>Microsoft Office PowerPoint</Application>
  <PresentationFormat>Custom</PresentationFormat>
  <Paragraphs>105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Arimo</vt:lpstr>
      <vt:lpstr>Century Gothic</vt:lpstr>
      <vt:lpstr>Outfit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54</cp:revision>
  <dcterms:created xsi:type="dcterms:W3CDTF">2024-07-28T13:57:26Z</dcterms:created>
  <dcterms:modified xsi:type="dcterms:W3CDTF">2024-07-29T21:50:10Z</dcterms:modified>
</cp:coreProperties>
</file>